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34282" y="256617"/>
            <a:ext cx="4763" cy="180975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157" y="244673"/>
            <a:ext cx="238125" cy="204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31038" y="288057"/>
            <a:ext cx="15328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PRESENTATION</a:t>
            </a:r>
            <a:endParaRPr lang="en-US" sz="720" dirty="0"/>
          </a:p>
        </p:txBody>
      </p:sp>
      <p:sp>
        <p:nvSpPr>
          <p:cNvPr id="8" name="Text 4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9" name="Text 5"/>
          <p:cNvSpPr/>
          <p:nvPr/>
        </p:nvSpPr>
        <p:spPr>
          <a:xfrm>
            <a:off x="365745" y="1412081"/>
            <a:ext cx="21116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TRANSIT INITIATIVE</a:t>
            </a:r>
            <a:endParaRPr lang="en-US" sz="790" dirty="0"/>
          </a:p>
        </p:txBody>
      </p:sp>
      <p:sp>
        <p:nvSpPr>
          <p:cNvPr id="10" name="Text 6"/>
          <p:cNvSpPr/>
          <p:nvPr/>
        </p:nvSpPr>
        <p:spPr>
          <a:xfrm>
            <a:off x="365745" y="1576313"/>
            <a:ext cx="3321874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3240" b="1" spc="-6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</a:t>
            </a:r>
            <a:endParaRPr lang="en-US" sz="3240" dirty="0"/>
          </a:p>
        </p:txBody>
      </p:sp>
      <p:sp>
        <p:nvSpPr>
          <p:cNvPr id="11" name="Text 7"/>
          <p:cNvSpPr/>
          <p:nvPr/>
        </p:nvSpPr>
        <p:spPr>
          <a:xfrm>
            <a:off x="365745" y="2028974"/>
            <a:ext cx="3903851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3240" b="1" spc="-6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 Service</a:t>
            </a:r>
            <a:endParaRPr lang="en-US" sz="3240" dirty="0"/>
          </a:p>
        </p:txBody>
      </p:sp>
      <p:sp>
        <p:nvSpPr>
          <p:cNvPr id="12" name="Text 8"/>
          <p:cNvSpPr/>
          <p:nvPr/>
        </p:nvSpPr>
        <p:spPr>
          <a:xfrm>
            <a:off x="365745" y="2601590"/>
            <a:ext cx="4332982" cy="344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Bus Tracking &amp; Passenger Management System</a:t>
            </a:r>
            <a:endParaRPr lang="en-US" sz="101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Maharashtra</a:t>
            </a:r>
            <a:endParaRPr lang="en-US" sz="1010" dirty="0"/>
          </a:p>
        </p:txBody>
      </p:sp>
      <p:sp>
        <p:nvSpPr>
          <p:cNvPr id="13" name="Shape 9"/>
          <p:cNvSpPr/>
          <p:nvPr/>
        </p:nvSpPr>
        <p:spPr>
          <a:xfrm>
            <a:off x="365001" y="3119996"/>
            <a:ext cx="2324100" cy="785813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35037" y="3237905"/>
            <a:ext cx="96078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b="1" spc="2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BUS TRIPS</a:t>
            </a:r>
            <a:endParaRPr lang="en-US" sz="610" dirty="0"/>
          </a:p>
        </p:txBody>
      </p:sp>
      <p:sp>
        <p:nvSpPr>
          <p:cNvPr id="15" name="Text 11"/>
          <p:cNvSpPr/>
          <p:nvPr/>
        </p:nvSpPr>
        <p:spPr>
          <a:xfrm>
            <a:off x="535037" y="3424089"/>
            <a:ext cx="112475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 L+</a:t>
            </a:r>
            <a:endParaRPr lang="en-US" sz="2160" dirty="0"/>
          </a:p>
        </p:txBody>
      </p:sp>
      <p:sp>
        <p:nvSpPr>
          <p:cNvPr id="16" name="Shape 12"/>
          <p:cNvSpPr/>
          <p:nvPr/>
        </p:nvSpPr>
        <p:spPr>
          <a:xfrm>
            <a:off x="1429196" y="3584749"/>
            <a:ext cx="409575" cy="157163"/>
          </a:xfrm>
          <a:prstGeom prst="roundRect">
            <a:avLst>
              <a:gd name="adj" fmla="val 50000"/>
            </a:avLst>
          </a:prstGeom>
          <a:solidFill>
            <a:srgbClr val="C62828">
              <a:alpha val="1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493416" y="3614589"/>
            <a:ext cx="42262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MSRTC</a:t>
            </a:r>
            <a:endParaRPr lang="en-US" sz="610" dirty="0"/>
          </a:p>
        </p:txBody>
      </p:sp>
      <p:sp>
        <p:nvSpPr>
          <p:cNvPr id="18" name="Shape 14"/>
          <p:cNvSpPr/>
          <p:nvPr/>
        </p:nvSpPr>
        <p:spPr>
          <a:xfrm>
            <a:off x="2870448" y="3119996"/>
            <a:ext cx="2324100" cy="785813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040484" y="3237905"/>
            <a:ext cx="125477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b="1" spc="2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PASSENGERS</a:t>
            </a:r>
            <a:endParaRPr lang="en-US" sz="610" dirty="0"/>
          </a:p>
        </p:txBody>
      </p:sp>
      <p:sp>
        <p:nvSpPr>
          <p:cNvPr id="20" name="Text 16"/>
          <p:cNvSpPr/>
          <p:nvPr/>
        </p:nvSpPr>
        <p:spPr>
          <a:xfrm>
            <a:off x="3040484" y="3424089"/>
            <a:ext cx="10520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 Cr</a:t>
            </a:r>
            <a:endParaRPr lang="en-US" sz="2160" dirty="0"/>
          </a:p>
        </p:txBody>
      </p:sp>
      <p:sp>
        <p:nvSpPr>
          <p:cNvPr id="21" name="Shape 17"/>
          <p:cNvSpPr/>
          <p:nvPr/>
        </p:nvSpPr>
        <p:spPr>
          <a:xfrm>
            <a:off x="3878126" y="3584749"/>
            <a:ext cx="371475" cy="157163"/>
          </a:xfrm>
          <a:prstGeom prst="roundRect">
            <a:avLst>
              <a:gd name="adj" fmla="val 50000"/>
            </a:avLst>
          </a:prstGeom>
          <a:solidFill>
            <a:srgbClr val="C62828">
              <a:alpha val="1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942904" y="3614589"/>
            <a:ext cx="37164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</a:t>
            </a:r>
            <a:endParaRPr lang="en-US" sz="610" dirty="0"/>
          </a:p>
        </p:txBody>
      </p:sp>
      <p:sp>
        <p:nvSpPr>
          <p:cNvPr id="23" name="Shape 19"/>
          <p:cNvSpPr/>
          <p:nvPr/>
        </p:nvSpPr>
        <p:spPr>
          <a:xfrm>
            <a:off x="5559177" y="801216"/>
            <a:ext cx="3219450" cy="3700463"/>
          </a:xfrm>
          <a:prstGeom prst="roundRect">
            <a:avLst>
              <a:gd name="adj" fmla="val 2840"/>
            </a:avLst>
          </a:prstGeom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939" y="805979"/>
            <a:ext cx="3209925" cy="369093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26" name="Text 21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7194203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8393162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8528447" y="4823892"/>
            <a:ext cx="3819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</a:t>
            </a:r>
            <a:endParaRPr lang="en-US" sz="6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54565" y="288057"/>
            <a:ext cx="1372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65745" y="1405830"/>
            <a:ext cx="17883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CHALLENGES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65745" y="1595735"/>
            <a:ext cx="185116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740" b="1" spc="-5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740" dirty="0"/>
          </a:p>
        </p:txBody>
      </p:sp>
      <p:sp>
        <p:nvSpPr>
          <p:cNvPr id="9" name="Text 6"/>
          <p:cNvSpPr/>
          <p:nvPr/>
        </p:nvSpPr>
        <p:spPr>
          <a:xfrm>
            <a:off x="365745" y="1977851"/>
            <a:ext cx="230331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740" b="1" spc="-5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</a:t>
            </a:r>
            <a:endParaRPr lang="en-US" sz="2740" dirty="0"/>
          </a:p>
        </p:txBody>
      </p:sp>
      <p:sp>
        <p:nvSpPr>
          <p:cNvPr id="10" name="Text 7"/>
          <p:cNvSpPr/>
          <p:nvPr/>
        </p:nvSpPr>
        <p:spPr>
          <a:xfrm>
            <a:off x="365745" y="2505670"/>
            <a:ext cx="3916620" cy="52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Maharashtra's public bus network faces critical gaps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real-time visibility, crew accountability, and digital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for passengers.</a:t>
            </a:r>
            <a:endParaRPr lang="en-US" sz="9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73" y="3263131"/>
            <a:ext cx="3095625" cy="647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580" y="3362697"/>
            <a:ext cx="757051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48580" y="3655070"/>
            <a:ext cx="27586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passengers report unreliable bus information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3825813" y="1274006"/>
            <a:ext cx="4953000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95663" y="1372121"/>
            <a:ext cx="228600" cy="228600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088234" y="1425253"/>
            <a:ext cx="11354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4333949" y="1386408"/>
            <a:ext cx="17760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Bus Visibility</a:t>
            </a:r>
            <a:endParaRPr lang="en-US" sz="790" dirty="0"/>
          </a:p>
        </p:txBody>
      </p:sp>
      <p:sp>
        <p:nvSpPr>
          <p:cNvPr id="18" name="Text 14"/>
          <p:cNvSpPr/>
          <p:nvPr/>
        </p:nvSpPr>
        <p:spPr>
          <a:xfrm>
            <a:off x="4333949" y="1543199"/>
            <a:ext cx="42798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Commuters have no live tracking of bus locations or estimated arrival times</a:t>
            </a:r>
            <a:endParaRPr lang="en-US" sz="720" dirty="0"/>
          </a:p>
        </p:txBody>
      </p:sp>
      <p:sp>
        <p:nvSpPr>
          <p:cNvPr id="19" name="Shape 15"/>
          <p:cNvSpPr/>
          <p:nvPr/>
        </p:nvSpPr>
        <p:spPr>
          <a:xfrm>
            <a:off x="3825813" y="1840074"/>
            <a:ext cx="4953000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995663" y="1938189"/>
            <a:ext cx="228600" cy="228600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078263" y="1991320"/>
            <a:ext cx="1394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90" dirty="0"/>
          </a:p>
        </p:txBody>
      </p:sp>
      <p:sp>
        <p:nvSpPr>
          <p:cNvPr id="22" name="Text 18"/>
          <p:cNvSpPr/>
          <p:nvPr/>
        </p:nvSpPr>
        <p:spPr>
          <a:xfrm>
            <a:off x="4333949" y="1952476"/>
            <a:ext cx="199104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Crew Assignment Tracking</a:t>
            </a:r>
            <a:endParaRPr lang="en-US" sz="790" dirty="0"/>
          </a:p>
        </p:txBody>
      </p:sp>
      <p:sp>
        <p:nvSpPr>
          <p:cNvPr id="23" name="Text 19"/>
          <p:cNvSpPr/>
          <p:nvPr/>
        </p:nvSpPr>
        <p:spPr>
          <a:xfrm>
            <a:off x="4333949" y="2109267"/>
            <a:ext cx="44413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system to track driver and conductor assignments on each bus</a:t>
            </a:r>
            <a:endParaRPr lang="en-US" sz="720" dirty="0"/>
          </a:p>
        </p:txBody>
      </p:sp>
      <p:sp>
        <p:nvSpPr>
          <p:cNvPr id="24" name="Shape 20"/>
          <p:cNvSpPr/>
          <p:nvPr/>
        </p:nvSpPr>
        <p:spPr>
          <a:xfrm>
            <a:off x="3825813" y="2406142"/>
            <a:ext cx="4953000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995663" y="2504256"/>
            <a:ext cx="228600" cy="228600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4077444" y="2557388"/>
            <a:ext cx="1416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90" dirty="0"/>
          </a:p>
        </p:txBody>
      </p:sp>
      <p:sp>
        <p:nvSpPr>
          <p:cNvPr id="27" name="Text 23"/>
          <p:cNvSpPr/>
          <p:nvPr/>
        </p:nvSpPr>
        <p:spPr>
          <a:xfrm>
            <a:off x="4333949" y="2518544"/>
            <a:ext cx="231444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Ticketing Revenue Leakage</a:t>
            </a:r>
            <a:endParaRPr lang="en-US" sz="790" dirty="0"/>
          </a:p>
        </p:txBody>
      </p:sp>
      <p:sp>
        <p:nvSpPr>
          <p:cNvPr id="28" name="Text 24"/>
          <p:cNvSpPr/>
          <p:nvPr/>
        </p:nvSpPr>
        <p:spPr>
          <a:xfrm>
            <a:off x="4333949" y="2675334"/>
            <a:ext cx="50712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ticketing and pass issuance leads to long queues and significant revenue leakage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3825813" y="2972209"/>
            <a:ext cx="4953000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995663" y="3070324"/>
            <a:ext cx="228600" cy="228600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4075956" y="3123456"/>
            <a:ext cx="14556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4333949" y="3084612"/>
            <a:ext cx="184361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Rural Route Monitoring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4333949" y="3241402"/>
            <a:ext cx="45796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routes in rural Maharashtra have no monitoring or safety checks in place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3825813" y="3538277"/>
            <a:ext cx="4953000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995663" y="3636392"/>
            <a:ext cx="228600" cy="228600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4078635" y="3689524"/>
            <a:ext cx="1385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33949" y="3650679"/>
            <a:ext cx="18520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Unreliable Journey Planning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4333949" y="3807470"/>
            <a:ext cx="42597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Passengers cannot plan journeys reliably, reducing trust in public transport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40" name="Text 36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7177683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8376642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3" name="Text 39"/>
          <p:cNvSpPr/>
          <p:nvPr/>
        </p:nvSpPr>
        <p:spPr>
          <a:xfrm>
            <a:off x="8511927" y="4823892"/>
            <a:ext cx="40337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65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26015" y="288057"/>
            <a:ext cx="11494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OF PROJECT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65745" y="831726"/>
            <a:ext cx="15553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65745" y="1077813"/>
            <a:ext cx="160128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of</a:t>
            </a:r>
            <a:endParaRPr lang="en-US" sz="2520" dirty="0"/>
          </a:p>
        </p:txBody>
      </p:sp>
      <p:sp>
        <p:nvSpPr>
          <p:cNvPr id="9" name="Text 6"/>
          <p:cNvSpPr/>
          <p:nvPr/>
        </p:nvSpPr>
        <p:spPr>
          <a:xfrm>
            <a:off x="365745" y="1429866"/>
            <a:ext cx="219700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</a:t>
            </a:r>
            <a:endParaRPr lang="en-US" sz="2520" dirty="0"/>
          </a:p>
        </p:txBody>
      </p:sp>
      <p:sp>
        <p:nvSpPr>
          <p:cNvPr id="10" name="Shape 7"/>
          <p:cNvSpPr/>
          <p:nvPr/>
        </p:nvSpPr>
        <p:spPr>
          <a:xfrm>
            <a:off x="365261" y="2007133"/>
            <a:ext cx="4024312" cy="795338"/>
          </a:xfrm>
          <a:prstGeom prst="roundRect">
            <a:avLst>
              <a:gd name="adj" fmla="val 1149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343" y="2123777"/>
            <a:ext cx="14191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MSRTC DAILY OPERATIONS</a:t>
            </a:r>
            <a:endParaRPr lang="en-US" sz="610" dirty="0"/>
          </a:p>
        </p:txBody>
      </p:sp>
      <p:sp>
        <p:nvSpPr>
          <p:cNvPr id="12" name="Text 9"/>
          <p:cNvSpPr/>
          <p:nvPr/>
        </p:nvSpPr>
        <p:spPr>
          <a:xfrm>
            <a:off x="553343" y="2294558"/>
            <a:ext cx="110589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2.5L+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451446" y="2499345"/>
            <a:ext cx="194006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trips per day across Maharashtra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365261" y="2906278"/>
            <a:ext cx="4024312" cy="795338"/>
          </a:xfrm>
          <a:prstGeom prst="roundRect">
            <a:avLst>
              <a:gd name="adj" fmla="val 1149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3343" y="3022922"/>
            <a:ext cx="104562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RIDERSHIP</a:t>
            </a:r>
            <a:endParaRPr lang="en-US" sz="610" dirty="0"/>
          </a:p>
        </p:txBody>
      </p:sp>
      <p:sp>
        <p:nvSpPr>
          <p:cNvPr id="16" name="Text 13"/>
          <p:cNvSpPr/>
          <p:nvPr/>
        </p:nvSpPr>
        <p:spPr>
          <a:xfrm>
            <a:off x="553343" y="3193703"/>
            <a:ext cx="111836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 Cr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461046" y="3398490"/>
            <a:ext cx="147504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passengers served annually</a:t>
            </a:r>
            <a:endParaRPr lang="en-US" sz="6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1" y="3804679"/>
            <a:ext cx="4024312" cy="681038"/>
          </a:xfrm>
          <a:prstGeom prst="rect">
            <a:avLst/>
          </a:prstGeom>
          <a:effectLst>
            <a:outerShdw sx="100000" sy="100000" kx="0" ky="0" algn="bl" rotWithShape="0" blurRad="91440" dist="27432" dir="5400000">
              <a:srgbClr val="C62828">
                <a:alpha val="20000"/>
              </a:srgbClr>
            </a:outerShdw>
          </a:effectLst>
        </p:spPr>
      </p:pic>
      <p:sp>
        <p:nvSpPr>
          <p:cNvPr id="19" name="Text 15"/>
          <p:cNvSpPr/>
          <p:nvPr/>
        </p:nvSpPr>
        <p:spPr>
          <a:xfrm>
            <a:off x="548580" y="3917305"/>
            <a:ext cx="129375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b="1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INDIA MANDATE</a:t>
            </a:r>
            <a:endParaRPr lang="en-US" sz="610" dirty="0"/>
          </a:p>
        </p:txBody>
      </p:sp>
      <p:sp>
        <p:nvSpPr>
          <p:cNvPr id="20" name="Text 16"/>
          <p:cNvSpPr/>
          <p:nvPr/>
        </p:nvSpPr>
        <p:spPr>
          <a:xfrm>
            <a:off x="548580" y="4059510"/>
            <a:ext cx="4096650" cy="309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 Mission requires modernization of public</a:t>
            </a:r>
            <a:endParaRPr lang="en-US" sz="940" dirty="0"/>
          </a:p>
          <a:p>
            <a:pPr algn="l" indent="0" marL="0">
              <a:lnSpc>
                <a:spcPts val="131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infrastructure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4754389" y="1295326"/>
            <a:ext cx="4024312" cy="481012"/>
          </a:xfrm>
          <a:prstGeom prst="roundRect">
            <a:avLst>
              <a:gd name="adj" fmla="val 152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924127" y="1402333"/>
            <a:ext cx="16558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Urban Population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4924127" y="1562100"/>
            <a:ext cx="450285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Maharashtra's rising urban population demands smart, data-driven transit solutions</a:t>
            </a:r>
            <a:endParaRPr lang="en-US" sz="680" dirty="0"/>
          </a:p>
        </p:txBody>
      </p:sp>
      <p:sp>
        <p:nvSpPr>
          <p:cNvPr id="24" name="Shape 20"/>
          <p:cNvSpPr/>
          <p:nvPr/>
        </p:nvSpPr>
        <p:spPr>
          <a:xfrm>
            <a:off x="4754389" y="1853133"/>
            <a:ext cx="4024312" cy="481012"/>
          </a:xfrm>
          <a:prstGeom prst="roundRect">
            <a:avLst>
              <a:gd name="adj" fmla="val 152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924127" y="1960141"/>
            <a:ext cx="14320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India Alignment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4924127" y="2119908"/>
            <a:ext cx="421167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India &amp; Smart Cities Mission mandate modernization of public transport</a:t>
            </a:r>
            <a:endParaRPr lang="en-US" sz="680" dirty="0"/>
          </a:p>
        </p:txBody>
      </p:sp>
      <p:sp>
        <p:nvSpPr>
          <p:cNvPr id="27" name="Shape 23"/>
          <p:cNvSpPr/>
          <p:nvPr/>
        </p:nvSpPr>
        <p:spPr>
          <a:xfrm>
            <a:off x="4754389" y="2410941"/>
            <a:ext cx="4024312" cy="481012"/>
          </a:xfrm>
          <a:prstGeom prst="roundRect">
            <a:avLst>
              <a:gd name="adj" fmla="val 152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924127" y="2517949"/>
            <a:ext cx="183916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 Safety &amp; Accountability</a:t>
            </a:r>
            <a:endParaRPr lang="en-US" sz="760" dirty="0"/>
          </a:p>
        </p:txBody>
      </p:sp>
      <p:sp>
        <p:nvSpPr>
          <p:cNvPr id="29" name="Text 25"/>
          <p:cNvSpPr/>
          <p:nvPr/>
        </p:nvSpPr>
        <p:spPr>
          <a:xfrm>
            <a:off x="4924127" y="2677716"/>
            <a:ext cx="426323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and accountability of drivers and conductors requires real-time tracking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4754389" y="2968749"/>
            <a:ext cx="4024312" cy="481012"/>
          </a:xfrm>
          <a:prstGeom prst="roundRect">
            <a:avLst>
              <a:gd name="adj" fmla="val 152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4924127" y="3075756"/>
            <a:ext cx="17297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Cost Reduction</a:t>
            </a:r>
            <a:endParaRPr lang="en-US" sz="760" dirty="0"/>
          </a:p>
        </p:txBody>
      </p:sp>
      <p:sp>
        <p:nvSpPr>
          <p:cNvPr id="32" name="Text 28"/>
          <p:cNvSpPr/>
          <p:nvPr/>
        </p:nvSpPr>
        <p:spPr>
          <a:xfrm>
            <a:off x="4924127" y="3235523"/>
            <a:ext cx="44681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ticketing reduces operational costs and improves the passenger experience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4754389" y="3526557"/>
            <a:ext cx="4024312" cy="481012"/>
          </a:xfrm>
          <a:prstGeom prst="roundRect">
            <a:avLst>
              <a:gd name="adj" fmla="val 152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924127" y="3633564"/>
            <a:ext cx="18318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Management Efficiency</a:t>
            </a:r>
            <a:endParaRPr lang="en-US" sz="760" dirty="0"/>
          </a:p>
        </p:txBody>
      </p:sp>
      <p:sp>
        <p:nvSpPr>
          <p:cNvPr id="35" name="Text 31"/>
          <p:cNvSpPr/>
          <p:nvPr/>
        </p:nvSpPr>
        <p:spPr>
          <a:xfrm>
            <a:off x="4924127" y="3793331"/>
            <a:ext cx="457705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GPS data enables better route planning and resource allocation for MSRTC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7" name="Text 33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7176790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8375749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8511034" y="4823892"/>
            <a:ext cx="40453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65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97924" y="288057"/>
            <a:ext cx="7959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929330" y="764679"/>
            <a:ext cx="12853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GOALS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568400" y="923330"/>
            <a:ext cx="20072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spc="-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65745" y="1417774"/>
            <a:ext cx="4114800" cy="509587"/>
          </a:xfrm>
          <a:prstGeom prst="roundRect">
            <a:avLst>
              <a:gd name="adj" fmla="val 1794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2376" y="1525116"/>
            <a:ext cx="276225" cy="276225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6824" y="1595214"/>
            <a:ext cx="1186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964778" y="1540371"/>
            <a:ext cx="186422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GPS Bus Tracking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964778" y="1702296"/>
            <a:ext cx="412983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live GPS tracking of government buses across all Maharashtra routes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4663418" y="1417774"/>
            <a:ext cx="4114800" cy="509587"/>
          </a:xfrm>
          <a:prstGeom prst="roundRect">
            <a:avLst>
              <a:gd name="adj" fmla="val 1794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50011" y="1525116"/>
            <a:ext cx="276225" cy="276225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953521" y="1595214"/>
            <a:ext cx="1470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5262414" y="1540371"/>
            <a:ext cx="19000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Location for Passengers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5262414" y="1702296"/>
            <a:ext cx="40749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passengers real-time bus location and ETA via mobile app and web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365745" y="2030016"/>
            <a:ext cx="4114800" cy="6286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2376" y="2136130"/>
            <a:ext cx="276225" cy="276225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55067" y="2206228"/>
            <a:ext cx="14924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964778" y="2151385"/>
            <a:ext cx="226491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Crew Assignment Database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964778" y="2313310"/>
            <a:ext cx="437351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 digital record of driver and conductor assignments per bus at all times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4663418" y="2030016"/>
            <a:ext cx="4114800" cy="6286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50011" y="2136130"/>
            <a:ext cx="276225" cy="276225"/>
          </a:xfrm>
          <a:prstGeom prst="ellipse">
            <a:avLst/>
          </a:prstGeom>
          <a:solidFill>
            <a:srgbClr val="C62828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950991" y="2206228"/>
            <a:ext cx="1535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5262414" y="2151385"/>
            <a:ext cx="19063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Pass &amp; Ticket Booking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262414" y="2313310"/>
            <a:ext cx="3727497" cy="226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7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online booking of passes and tickets, reducing counter queues</a:t>
            </a:r>
            <a:endParaRPr lang="en-US" sz="680" dirty="0"/>
          </a:p>
          <a:p>
            <a:pPr algn="l" indent="0" marL="0">
              <a:lnSpc>
                <a:spcPts val="957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</a:t>
            </a:r>
            <a:endParaRPr lang="en-US" sz="68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3" y="2761134"/>
            <a:ext cx="8410575" cy="495300"/>
          </a:xfrm>
          <a:prstGeom prst="rect">
            <a:avLst/>
          </a:prstGeom>
          <a:effectLst>
            <a:outerShdw sx="100000" sy="100000" kx="0" ky="0" algn="bl" rotWithShape="0" blurRad="91440" dist="27432" dir="5400000">
              <a:srgbClr val="1E3A5F">
                <a:alpha val="15000"/>
              </a:srgbClr>
            </a:outerShdw>
          </a:effectLst>
        </p:spPr>
      </p:pic>
      <p:sp>
        <p:nvSpPr>
          <p:cNvPr id="30" name="Shape 26"/>
          <p:cNvSpPr/>
          <p:nvPr/>
        </p:nvSpPr>
        <p:spPr>
          <a:xfrm>
            <a:off x="547613" y="2870671"/>
            <a:ext cx="276225" cy="276225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651570" y="2940769"/>
            <a:ext cx="1458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60" dirty="0"/>
          </a:p>
        </p:txBody>
      </p:sp>
      <p:sp>
        <p:nvSpPr>
          <p:cNvPr id="32" name="Text 28"/>
          <p:cNvSpPr/>
          <p:nvPr/>
        </p:nvSpPr>
        <p:spPr>
          <a:xfrm>
            <a:off x="960016" y="2879154"/>
            <a:ext cx="33607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Fleet Management &amp; Operational Efficiency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960016" y="3035945"/>
            <a:ext cx="575813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operational inefficiencies for MSRTC through data-driven fleet management and route optimization</a:t>
            </a:r>
            <a:endParaRPr lang="en-US" sz="680" dirty="0"/>
          </a:p>
        </p:txBody>
      </p:sp>
      <p:sp>
        <p:nvSpPr>
          <p:cNvPr id="34" name="Shape 30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5" name="Text 31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7174409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8373368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8508653" y="4823892"/>
            <a:ext cx="4076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65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3646" y="288057"/>
            <a:ext cx="10225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789253" y="1428304"/>
            <a:ext cx="15654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PROJECT TEAM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003061" y="1586954"/>
            <a:ext cx="313787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2520" dirty="0"/>
          </a:p>
        </p:txBody>
      </p:sp>
      <p:sp>
        <p:nvSpPr>
          <p:cNvPr id="9" name="Shape 6"/>
          <p:cNvSpPr/>
          <p:nvPr/>
        </p:nvSpPr>
        <p:spPr>
          <a:xfrm>
            <a:off x="549325" y="2164333"/>
            <a:ext cx="1462088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25" y="2323207"/>
            <a:ext cx="547687" cy="5476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534" y="2974181"/>
            <a:ext cx="14416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Aayaan D. Kalawant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887585" y="3167435"/>
            <a:ext cx="7854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1189844" y="3358455"/>
            <a:ext cx="180975" cy="14288"/>
          </a:xfrm>
          <a:prstGeom prst="roundRect">
            <a:avLst>
              <a:gd name="adj" fmla="val 49998"/>
            </a:avLst>
          </a:prstGeom>
          <a:solidFill>
            <a:srgbClr val="C62828"/>
          </a:solidFill>
          <a:ln/>
        </p:spPr>
      </p:sp>
      <p:sp>
        <p:nvSpPr>
          <p:cNvPr id="14" name="Shape 10"/>
          <p:cNvSpPr/>
          <p:nvPr/>
        </p:nvSpPr>
        <p:spPr>
          <a:xfrm>
            <a:off x="2195140" y="2164333"/>
            <a:ext cx="1462088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340" y="2323207"/>
            <a:ext cx="547687" cy="5476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54134" y="2974181"/>
            <a:ext cx="11441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Kunal S. Sapate</a:t>
            </a:r>
            <a:endParaRPr lang="en-US" sz="860" dirty="0"/>
          </a:p>
        </p:txBody>
      </p:sp>
      <p:sp>
        <p:nvSpPr>
          <p:cNvPr id="17" name="Text 12"/>
          <p:cNvSpPr/>
          <p:nvPr/>
        </p:nvSpPr>
        <p:spPr>
          <a:xfrm>
            <a:off x="2533401" y="3167435"/>
            <a:ext cx="7854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650" dirty="0"/>
          </a:p>
        </p:txBody>
      </p:sp>
      <p:sp>
        <p:nvSpPr>
          <p:cNvPr id="18" name="Shape 13"/>
          <p:cNvSpPr/>
          <p:nvPr/>
        </p:nvSpPr>
        <p:spPr>
          <a:xfrm>
            <a:off x="2835659" y="3358455"/>
            <a:ext cx="180975" cy="14288"/>
          </a:xfrm>
          <a:prstGeom prst="roundRect">
            <a:avLst>
              <a:gd name="adj" fmla="val 49998"/>
            </a:avLst>
          </a:prstGeom>
          <a:solidFill>
            <a:srgbClr val="1E3A5F"/>
          </a:solidFill>
          <a:ln/>
        </p:spPr>
      </p:sp>
      <p:sp>
        <p:nvSpPr>
          <p:cNvPr id="19" name="Shape 14"/>
          <p:cNvSpPr/>
          <p:nvPr/>
        </p:nvSpPr>
        <p:spPr>
          <a:xfrm>
            <a:off x="3840956" y="2164333"/>
            <a:ext cx="1462088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156" y="2337495"/>
            <a:ext cx="547687" cy="5476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65398" y="2988469"/>
            <a:ext cx="14131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Omkar N. Chougule</a:t>
            </a:r>
            <a:endParaRPr lang="en-US" sz="860" dirty="0"/>
          </a:p>
        </p:txBody>
      </p:sp>
      <p:sp>
        <p:nvSpPr>
          <p:cNvPr id="22" name="Text 16"/>
          <p:cNvSpPr/>
          <p:nvPr/>
        </p:nvSpPr>
        <p:spPr>
          <a:xfrm>
            <a:off x="4179217" y="3181722"/>
            <a:ext cx="7854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650" dirty="0"/>
          </a:p>
        </p:txBody>
      </p:sp>
      <p:sp>
        <p:nvSpPr>
          <p:cNvPr id="23" name="Shape 17"/>
          <p:cNvSpPr/>
          <p:nvPr/>
        </p:nvSpPr>
        <p:spPr>
          <a:xfrm>
            <a:off x="4481475" y="3372743"/>
            <a:ext cx="180975" cy="14288"/>
          </a:xfrm>
          <a:prstGeom prst="roundRect">
            <a:avLst>
              <a:gd name="adj" fmla="val 49998"/>
            </a:avLst>
          </a:prstGeom>
          <a:solidFill>
            <a:srgbClr val="C62828"/>
          </a:solidFill>
          <a:ln/>
        </p:spPr>
      </p:sp>
      <p:sp>
        <p:nvSpPr>
          <p:cNvPr id="24" name="Shape 18"/>
          <p:cNvSpPr/>
          <p:nvPr/>
        </p:nvSpPr>
        <p:spPr>
          <a:xfrm>
            <a:off x="5486772" y="2164333"/>
            <a:ext cx="1462088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972" y="2323207"/>
            <a:ext cx="547687" cy="5476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63313" y="2974181"/>
            <a:ext cx="9089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Yash V. Tare</a:t>
            </a:r>
            <a:endParaRPr lang="en-US" sz="860" dirty="0"/>
          </a:p>
        </p:txBody>
      </p:sp>
      <p:sp>
        <p:nvSpPr>
          <p:cNvPr id="27" name="Text 20"/>
          <p:cNvSpPr/>
          <p:nvPr/>
        </p:nvSpPr>
        <p:spPr>
          <a:xfrm>
            <a:off x="5825032" y="3167435"/>
            <a:ext cx="7854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650" dirty="0"/>
          </a:p>
        </p:txBody>
      </p:sp>
      <p:sp>
        <p:nvSpPr>
          <p:cNvPr id="28" name="Shape 21"/>
          <p:cNvSpPr/>
          <p:nvPr/>
        </p:nvSpPr>
        <p:spPr>
          <a:xfrm>
            <a:off x="6127291" y="3358455"/>
            <a:ext cx="180975" cy="14288"/>
          </a:xfrm>
          <a:prstGeom prst="roundRect">
            <a:avLst>
              <a:gd name="adj" fmla="val 49998"/>
            </a:avLst>
          </a:prstGeom>
          <a:solidFill>
            <a:srgbClr val="E65100"/>
          </a:solidFill>
          <a:ln/>
        </p:spPr>
      </p:sp>
      <p:sp>
        <p:nvSpPr>
          <p:cNvPr id="29" name="Shape 22"/>
          <p:cNvSpPr/>
          <p:nvPr/>
        </p:nvSpPr>
        <p:spPr>
          <a:xfrm>
            <a:off x="7132588" y="2164333"/>
            <a:ext cx="1462088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788" y="2323207"/>
            <a:ext cx="547687" cy="5476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81880" y="2974181"/>
            <a:ext cx="13635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Vivek M. Chougale</a:t>
            </a:r>
            <a:endParaRPr lang="en-US" sz="860" dirty="0"/>
          </a:p>
        </p:txBody>
      </p:sp>
      <p:sp>
        <p:nvSpPr>
          <p:cNvPr id="32" name="Text 24"/>
          <p:cNvSpPr/>
          <p:nvPr/>
        </p:nvSpPr>
        <p:spPr>
          <a:xfrm>
            <a:off x="7470848" y="3167435"/>
            <a:ext cx="7854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</a:t>
            </a:r>
            <a:endParaRPr lang="en-US" sz="650" dirty="0"/>
          </a:p>
        </p:txBody>
      </p:sp>
      <p:sp>
        <p:nvSpPr>
          <p:cNvPr id="33" name="Shape 25"/>
          <p:cNvSpPr/>
          <p:nvPr/>
        </p:nvSpPr>
        <p:spPr>
          <a:xfrm>
            <a:off x="7773107" y="3358455"/>
            <a:ext cx="180975" cy="14288"/>
          </a:xfrm>
          <a:prstGeom prst="roundRect">
            <a:avLst>
              <a:gd name="adj" fmla="val 49998"/>
            </a:avLst>
          </a:prstGeom>
          <a:solidFill>
            <a:srgbClr val="2D5187"/>
          </a:solidFill>
          <a:ln/>
        </p:spPr>
      </p:sp>
      <p:sp>
        <p:nvSpPr>
          <p:cNvPr id="34" name="Shape 26"/>
          <p:cNvSpPr/>
          <p:nvPr/>
        </p:nvSpPr>
        <p:spPr>
          <a:xfrm>
            <a:off x="3117577" y="3815507"/>
            <a:ext cx="2762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27"/>
          <p:cNvSpPr/>
          <p:nvPr/>
        </p:nvSpPr>
        <p:spPr>
          <a:xfrm>
            <a:off x="3484215" y="3761259"/>
            <a:ext cx="28853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 — Project Team 2026</a:t>
            </a:r>
            <a:endParaRPr lang="en-US" sz="720" dirty="0"/>
          </a:p>
        </p:txBody>
      </p:sp>
      <p:sp>
        <p:nvSpPr>
          <p:cNvPr id="36" name="Shape 28"/>
          <p:cNvSpPr/>
          <p:nvPr/>
        </p:nvSpPr>
        <p:spPr>
          <a:xfrm>
            <a:off x="5750198" y="3815507"/>
            <a:ext cx="2762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29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8" name="Text 30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39" name="Text 31"/>
          <p:cNvSpPr/>
          <p:nvPr/>
        </p:nvSpPr>
        <p:spPr>
          <a:xfrm>
            <a:off x="7178799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40" name="Text 32"/>
          <p:cNvSpPr/>
          <p:nvPr/>
        </p:nvSpPr>
        <p:spPr>
          <a:xfrm>
            <a:off x="8377758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1" name="Text 33"/>
          <p:cNvSpPr/>
          <p:nvPr/>
        </p:nvSpPr>
        <p:spPr>
          <a:xfrm>
            <a:off x="8513043" y="4823892"/>
            <a:ext cx="40192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6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192411" y="2454176"/>
            <a:ext cx="28583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2841799" y="2454176"/>
            <a:ext cx="27655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8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0956" y="2164333"/>
            <a:ext cx="1462088" cy="1381125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483596" y="2468463"/>
            <a:ext cx="286903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800" dirty="0"/>
          </a:p>
        </p:txBody>
      </p:sp>
      <p:sp>
        <p:nvSpPr>
          <p:cNvPr id="47" name="Text 37"/>
          <p:cNvSpPr/>
          <p:nvPr/>
        </p:nvSpPr>
        <p:spPr>
          <a:xfrm>
            <a:off x="6131868" y="2454176"/>
            <a:ext cx="280615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800" dirty="0"/>
          </a:p>
        </p:txBody>
      </p:sp>
      <p:sp>
        <p:nvSpPr>
          <p:cNvPr id="48" name="Text 38"/>
          <p:cNvSpPr/>
          <p:nvPr/>
        </p:nvSpPr>
        <p:spPr>
          <a:xfrm>
            <a:off x="7775674" y="2454176"/>
            <a:ext cx="28583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18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45078" y="288057"/>
            <a:ext cx="9946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65745" y="1594396"/>
            <a:ext cx="16055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PLAN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65745" y="1763390"/>
            <a:ext cx="271126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2520" dirty="0"/>
          </a:p>
        </p:txBody>
      </p:sp>
      <p:sp>
        <p:nvSpPr>
          <p:cNvPr id="9" name="Text 6"/>
          <p:cNvSpPr/>
          <p:nvPr/>
        </p:nvSpPr>
        <p:spPr>
          <a:xfrm>
            <a:off x="365745" y="2115443"/>
            <a:ext cx="128040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Plan</a:t>
            </a:r>
            <a:endParaRPr lang="en-US" sz="2520" dirty="0"/>
          </a:p>
        </p:txBody>
      </p:sp>
      <p:sp>
        <p:nvSpPr>
          <p:cNvPr id="10" name="Text 7"/>
          <p:cNvSpPr/>
          <p:nvPr/>
        </p:nvSpPr>
        <p:spPr>
          <a:xfrm>
            <a:off x="365745" y="2608436"/>
            <a:ext cx="3779349" cy="292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6-phase approach from requirements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gathering to full public deployment across MSRTC routes.</a:t>
            </a:r>
            <a:endParaRPr lang="en-US" sz="83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50" y="3079924"/>
            <a:ext cx="2871788" cy="6429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580" y="3149501"/>
            <a:ext cx="29309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160" dirty="0"/>
          </a:p>
        </p:txBody>
      </p:sp>
      <p:sp>
        <p:nvSpPr>
          <p:cNvPr id="13" name="Text 9"/>
          <p:cNvSpPr/>
          <p:nvPr/>
        </p:nvSpPr>
        <p:spPr>
          <a:xfrm>
            <a:off x="548580" y="3492326"/>
            <a:ext cx="12531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Phases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3710434" y="853604"/>
            <a:ext cx="9525" cy="35956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1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7176567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8375526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8510811" y="4823892"/>
            <a:ext cx="40482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6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605659" y="1169863"/>
            <a:ext cx="209550" cy="209550"/>
          </a:xfrm>
          <a:prstGeom prst="ellipse">
            <a:avLst/>
          </a:prstGeom>
          <a:solidFill>
            <a:srgbClr val="C62828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C62828">
                <a:alpha val="10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3692649" y="1222400"/>
            <a:ext cx="1032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23" name="Shape 18"/>
          <p:cNvSpPr/>
          <p:nvPr/>
        </p:nvSpPr>
        <p:spPr>
          <a:xfrm>
            <a:off x="3997561" y="1169566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140324" y="1260872"/>
            <a:ext cx="154034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Gathering</a:t>
            </a:r>
            <a:endParaRPr lang="en-US" sz="760" dirty="0"/>
          </a:p>
        </p:txBody>
      </p:sp>
      <p:sp>
        <p:nvSpPr>
          <p:cNvPr id="25" name="Text 20"/>
          <p:cNvSpPr/>
          <p:nvPr/>
        </p:nvSpPr>
        <p:spPr>
          <a:xfrm>
            <a:off x="4140324" y="1415504"/>
            <a:ext cx="38638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MSRTC stakeholder interviews, route mapping, and requirement finalization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3605659" y="1674986"/>
            <a:ext cx="209550" cy="209550"/>
          </a:xfrm>
          <a:prstGeom prst="ellipse">
            <a:avLst/>
          </a:prstGeom>
          <a:solidFill>
            <a:srgbClr val="1E3A5F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1E3A5F">
                <a:alpha val="10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684463" y="1727522"/>
            <a:ext cx="12457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3997561" y="1674688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140324" y="1765995"/>
            <a:ext cx="176409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Design</a:t>
            </a:r>
            <a:endParaRPr lang="en-US" sz="760" dirty="0"/>
          </a:p>
        </p:txBody>
      </p:sp>
      <p:sp>
        <p:nvSpPr>
          <p:cNvPr id="30" name="Text 25"/>
          <p:cNvSpPr/>
          <p:nvPr/>
        </p:nvSpPr>
        <p:spPr>
          <a:xfrm>
            <a:off x="4140324" y="1920627"/>
            <a:ext cx="37825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GPS module, backend API, and passenger-facing app architecture</a:t>
            </a:r>
            <a:endParaRPr lang="en-US" sz="650" dirty="0"/>
          </a:p>
        </p:txBody>
      </p:sp>
      <p:sp>
        <p:nvSpPr>
          <p:cNvPr id="31" name="Shape 26"/>
          <p:cNvSpPr/>
          <p:nvPr/>
        </p:nvSpPr>
        <p:spPr>
          <a:xfrm>
            <a:off x="3605659" y="2180109"/>
            <a:ext cx="209550" cy="209550"/>
          </a:xfrm>
          <a:prstGeom prst="ellipse">
            <a:avLst/>
          </a:prstGeom>
          <a:solidFill>
            <a:srgbClr val="C62828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C62828">
                <a:alpha val="10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683868" y="2232645"/>
            <a:ext cx="1262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33" name="Shape 28"/>
          <p:cNvSpPr/>
          <p:nvPr/>
        </p:nvSpPr>
        <p:spPr>
          <a:xfrm>
            <a:off x="3997561" y="2179811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140324" y="2271117"/>
            <a:ext cx="21770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Tracking Module Development</a:t>
            </a:r>
            <a:endParaRPr lang="en-US" sz="760" dirty="0"/>
          </a:p>
        </p:txBody>
      </p:sp>
      <p:sp>
        <p:nvSpPr>
          <p:cNvPr id="35" name="Text 30"/>
          <p:cNvSpPr/>
          <p:nvPr/>
        </p:nvSpPr>
        <p:spPr>
          <a:xfrm>
            <a:off x="4140324" y="2425750"/>
            <a:ext cx="39771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GPS hardware integration and phone-based tracking fallback system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>
            <a:off x="3605659" y="2685231"/>
            <a:ext cx="209550" cy="209550"/>
          </a:xfrm>
          <a:prstGeom prst="ellipse">
            <a:avLst/>
          </a:prstGeom>
          <a:solidFill>
            <a:srgbClr val="1E3A5F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1E3A5F">
                <a:alpha val="10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3682603" y="2737768"/>
            <a:ext cx="12951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3997561" y="2684934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4140324" y="2776240"/>
            <a:ext cx="160089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 Management Portal</a:t>
            </a:r>
            <a:endParaRPr lang="en-US" sz="760" dirty="0"/>
          </a:p>
        </p:txBody>
      </p:sp>
      <p:sp>
        <p:nvSpPr>
          <p:cNvPr id="40" name="Text 35"/>
          <p:cNvSpPr/>
          <p:nvPr/>
        </p:nvSpPr>
        <p:spPr>
          <a:xfrm>
            <a:off x="4140324" y="2930872"/>
            <a:ext cx="39362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driver and conductor assignment management portal for MSRTC admin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3605659" y="3190354"/>
            <a:ext cx="209550" cy="209550"/>
          </a:xfrm>
          <a:prstGeom prst="ellipse">
            <a:avLst/>
          </a:prstGeom>
          <a:solidFill>
            <a:srgbClr val="C62828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C62828">
                <a:alpha val="100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3684836" y="3242890"/>
            <a:ext cx="1237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43" name="Shape 38"/>
          <p:cNvSpPr/>
          <p:nvPr/>
        </p:nvSpPr>
        <p:spPr>
          <a:xfrm>
            <a:off x="3997561" y="3190056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4140324" y="3281363"/>
            <a:ext cx="182281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Ticket &amp; Pass Booking</a:t>
            </a:r>
            <a:endParaRPr lang="en-US" sz="760" dirty="0"/>
          </a:p>
        </p:txBody>
      </p:sp>
      <p:sp>
        <p:nvSpPr>
          <p:cNvPr id="45" name="Text 40"/>
          <p:cNvSpPr/>
          <p:nvPr/>
        </p:nvSpPr>
        <p:spPr>
          <a:xfrm>
            <a:off x="4140324" y="3435995"/>
            <a:ext cx="395521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online pass and ticket booking with Razorpay/UPI payment gateway</a:t>
            </a:r>
            <a:endParaRPr lang="en-US" sz="650" dirty="0"/>
          </a:p>
        </p:txBody>
      </p:sp>
      <p:sp>
        <p:nvSpPr>
          <p:cNvPr id="46" name="Shape 41"/>
          <p:cNvSpPr/>
          <p:nvPr/>
        </p:nvSpPr>
        <p:spPr>
          <a:xfrm>
            <a:off x="3605659" y="3695477"/>
            <a:ext cx="209550" cy="209550"/>
          </a:xfrm>
          <a:prstGeom prst="ellipse">
            <a:avLst/>
          </a:prstGeom>
          <a:solidFill>
            <a:srgbClr val="1E3A5F"/>
          </a:solidFill>
          <a:ln w="14288">
            <a:solidFill>
              <a:srgbClr val="FAFBFC"/>
            </a:solidFill>
            <a:prstDash val="solid"/>
          </a:ln>
          <a:effectLst>
            <a:outerShdw sx="100000" sy="100000" kx="0" ky="0" algn="bl" rotWithShape="0" blurRad="101600" dist="50800" dir="16200000">
              <a:srgbClr val="1E3A5F">
                <a:alpha val="100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3683719" y="3748013"/>
            <a:ext cx="12660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50" dirty="0"/>
          </a:p>
        </p:txBody>
      </p:sp>
      <p:sp>
        <p:nvSpPr>
          <p:cNvPr id="48" name="Shape 43"/>
          <p:cNvSpPr/>
          <p:nvPr/>
        </p:nvSpPr>
        <p:spPr>
          <a:xfrm>
            <a:off x="3997561" y="3695179"/>
            <a:ext cx="4781550" cy="438150"/>
          </a:xfrm>
          <a:prstGeom prst="roundRect">
            <a:avLst>
              <a:gd name="adj" fmla="val 166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73152" dist="18288" dir="5400000">
              <a:srgbClr val="1E3A5F">
                <a:alpha val="5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4140324" y="3786485"/>
            <a:ext cx="22918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Testing, Deployment &amp; Public Rollout</a:t>
            </a:r>
            <a:endParaRPr lang="en-US" sz="760" dirty="0"/>
          </a:p>
        </p:txBody>
      </p:sp>
      <p:sp>
        <p:nvSpPr>
          <p:cNvPr id="50" name="Text 45"/>
          <p:cNvSpPr/>
          <p:nvPr/>
        </p:nvSpPr>
        <p:spPr>
          <a:xfrm>
            <a:off x="4140324" y="3941118"/>
            <a:ext cx="43381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testing, deployment, and phased public rollout across MSRTC routes</a:t>
            </a:r>
            <a:endParaRPr lang="en-US" sz="650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8347" y="288057"/>
            <a:ext cx="8863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073664" y="764679"/>
            <a:ext cx="9966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2326485" y="923330"/>
            <a:ext cx="449095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spc="-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Preferences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65745" y="1367768"/>
            <a:ext cx="2000250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7653" y="1484188"/>
            <a:ext cx="59743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580" dirty="0"/>
          </a:p>
        </p:txBody>
      </p:sp>
      <p:sp>
        <p:nvSpPr>
          <p:cNvPr id="11" name="Text 8"/>
          <p:cNvSpPr/>
          <p:nvPr/>
        </p:nvSpPr>
        <p:spPr>
          <a:xfrm>
            <a:off x="507653" y="1639714"/>
            <a:ext cx="97693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Hardware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07653" y="1806773"/>
            <a:ext cx="2176976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devices + fallback phone-based GPS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4G/5G networks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503140" y="1367768"/>
            <a:ext cx="2000250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45048" y="1484188"/>
            <a:ext cx="55806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2645048" y="1639714"/>
            <a:ext cx="111885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Python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2645048" y="1806773"/>
            <a:ext cx="185851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with real-time WebSocket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for live tracking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640535" y="1367768"/>
            <a:ext cx="2000250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82443" y="1484188"/>
            <a:ext cx="60091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4782443" y="1639714"/>
            <a:ext cx="131590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+ Redis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4782443" y="1806773"/>
            <a:ext cx="209968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 in PostgreSQL; Redis for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location caching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777968" y="1367768"/>
            <a:ext cx="2000250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19838" y="1484188"/>
            <a:ext cx="35965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</a:t>
            </a:r>
            <a:endParaRPr lang="en-US" sz="580" dirty="0"/>
          </a:p>
        </p:txBody>
      </p:sp>
      <p:sp>
        <p:nvSpPr>
          <p:cNvPr id="23" name="Text 20"/>
          <p:cNvSpPr/>
          <p:nvPr/>
        </p:nvSpPr>
        <p:spPr>
          <a:xfrm>
            <a:off x="6919838" y="1639714"/>
            <a:ext cx="10669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OpenStreetMap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6919838" y="1806773"/>
            <a:ext cx="228609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OpenStreetMap / Google Maps API for route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364778" y="2243547"/>
            <a:ext cx="2714625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7653" y="2359968"/>
            <a:ext cx="4487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580" dirty="0"/>
          </a:p>
        </p:txBody>
      </p:sp>
      <p:sp>
        <p:nvSpPr>
          <p:cNvPr id="27" name="Text 24"/>
          <p:cNvSpPr/>
          <p:nvPr/>
        </p:nvSpPr>
        <p:spPr>
          <a:xfrm>
            <a:off x="507653" y="2515493"/>
            <a:ext cx="8648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07653" y="2682553"/>
            <a:ext cx="3034948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Android-first app for Maharashtra passengers with live bus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3214650" y="2243547"/>
            <a:ext cx="2714625" cy="771525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357488" y="2359968"/>
            <a:ext cx="62606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580" dirty="0"/>
          </a:p>
        </p:txBody>
      </p:sp>
      <p:sp>
        <p:nvSpPr>
          <p:cNvPr id="31" name="Text 28"/>
          <p:cNvSpPr/>
          <p:nvPr/>
        </p:nvSpPr>
        <p:spPr>
          <a:xfrm>
            <a:off x="3357488" y="2515493"/>
            <a:ext cx="99048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/ UPI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357488" y="2682553"/>
            <a:ext cx="293008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and UPI integration for pass and ticket booking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6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560" y="2243547"/>
            <a:ext cx="2714625" cy="771525"/>
          </a:xfrm>
          <a:prstGeom prst="rect">
            <a:avLst/>
          </a:prstGeom>
          <a:effectLst>
            <a:outerShdw sx="100000" sy="100000" kx="0" ky="0" algn="bl" rotWithShape="0" blurRad="91440" dist="27432" dir="5400000">
              <a:srgbClr val="1E3A5F">
                <a:alpha val="15000"/>
              </a:srgbClr>
            </a:outerShdw>
          </a:effectLst>
        </p:spPr>
      </p:pic>
      <p:sp>
        <p:nvSpPr>
          <p:cNvPr id="34" name="Text 30"/>
          <p:cNvSpPr/>
          <p:nvPr/>
        </p:nvSpPr>
        <p:spPr>
          <a:xfrm>
            <a:off x="6202635" y="2355205"/>
            <a:ext cx="53039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580" b="1" spc="29" kern="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</a:t>
            </a:r>
            <a:endParaRPr lang="en-US" sz="580" dirty="0"/>
          </a:p>
        </p:txBody>
      </p:sp>
      <p:sp>
        <p:nvSpPr>
          <p:cNvPr id="35" name="Text 31"/>
          <p:cNvSpPr/>
          <p:nvPr/>
        </p:nvSpPr>
        <p:spPr>
          <a:xfrm>
            <a:off x="6202635" y="2510730"/>
            <a:ext cx="11141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 / Govt Cloud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6202635" y="2677790"/>
            <a:ext cx="322552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government cloud via National Informatics Centre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(NIC)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8" name="Text 34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7181404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8380363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8515648" y="4823892"/>
            <a:ext cx="3985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65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2092" y="288057"/>
            <a:ext cx="14015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712841" y="764679"/>
            <a:ext cx="17182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PROJECTIONS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2713330" y="923330"/>
            <a:ext cx="371734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spc="-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66229" y="1392920"/>
            <a:ext cx="2681288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4445" y="1535683"/>
            <a:ext cx="122478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TIME REDUCTION</a:t>
            </a:r>
            <a:endParaRPr lang="en-US" sz="610" dirty="0"/>
          </a:p>
        </p:txBody>
      </p:sp>
      <p:sp>
        <p:nvSpPr>
          <p:cNvPr id="11" name="Text 8"/>
          <p:cNvSpPr/>
          <p:nvPr/>
        </p:nvSpPr>
        <p:spPr>
          <a:xfrm>
            <a:off x="1112922" y="1736154"/>
            <a:ext cx="118782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2880" dirty="0"/>
          </a:p>
        </p:txBody>
      </p:sp>
      <p:sp>
        <p:nvSpPr>
          <p:cNvPr id="12" name="Text 9"/>
          <p:cNvSpPr/>
          <p:nvPr/>
        </p:nvSpPr>
        <p:spPr>
          <a:xfrm>
            <a:off x="293839" y="2262783"/>
            <a:ext cx="282599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passenger wait time through accurate ETA</a:t>
            </a:r>
            <a:endParaRPr lang="en-US" sz="650" dirty="0"/>
          </a:p>
          <a:p>
            <a:pPr algn="ctr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231319" y="1392920"/>
            <a:ext cx="2681288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1113" y="1535683"/>
            <a:ext cx="9217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 TRACKING</a:t>
            </a:r>
            <a:endParaRPr lang="en-US" sz="610" dirty="0"/>
          </a:p>
        </p:txBody>
      </p:sp>
      <p:sp>
        <p:nvSpPr>
          <p:cNvPr id="15" name="Text 12"/>
          <p:cNvSpPr/>
          <p:nvPr/>
        </p:nvSpPr>
        <p:spPr>
          <a:xfrm>
            <a:off x="3864732" y="1736154"/>
            <a:ext cx="141438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80" dirty="0"/>
          </a:p>
        </p:txBody>
      </p:sp>
      <p:sp>
        <p:nvSpPr>
          <p:cNvPr id="16" name="Text 13"/>
          <p:cNvSpPr/>
          <p:nvPr/>
        </p:nvSpPr>
        <p:spPr>
          <a:xfrm>
            <a:off x="3148675" y="2262783"/>
            <a:ext cx="284650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tracking of driver and conductor deployment per</a:t>
            </a:r>
            <a:endParaRPr lang="en-US" sz="650" dirty="0"/>
          </a:p>
          <a:p>
            <a:pPr algn="ctr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096409" y="1392920"/>
            <a:ext cx="2681288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22389" y="1535683"/>
            <a:ext cx="12293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TICKETING WORKLOAD</a:t>
            </a:r>
            <a:endParaRPr lang="en-US" sz="610" dirty="0"/>
          </a:p>
        </p:txBody>
      </p:sp>
      <p:sp>
        <p:nvSpPr>
          <p:cNvPr id="19" name="Text 16"/>
          <p:cNvSpPr/>
          <p:nvPr/>
        </p:nvSpPr>
        <p:spPr>
          <a:xfrm>
            <a:off x="6848605" y="1736154"/>
            <a:ext cx="117689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2880" dirty="0"/>
          </a:p>
        </p:txBody>
      </p:sp>
      <p:sp>
        <p:nvSpPr>
          <p:cNvPr id="20" name="Text 17"/>
          <p:cNvSpPr/>
          <p:nvPr/>
        </p:nvSpPr>
        <p:spPr>
          <a:xfrm>
            <a:off x="5929398" y="2262783"/>
            <a:ext cx="301531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03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manual ticketing workload at MSRTC counters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366229" y="2750604"/>
            <a:ext cx="2681288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4256" y="2857760"/>
            <a:ext cx="38100" cy="395287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61" y="2867471"/>
            <a:ext cx="113171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Bus Tracking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681261" y="3027238"/>
            <a:ext cx="285356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bus location visible to all passengers within 6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launch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3231319" y="2750604"/>
            <a:ext cx="2681288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9346" y="2857760"/>
            <a:ext cx="38100" cy="395287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3546351" y="2867471"/>
            <a:ext cx="141970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Public Trust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3546351" y="3027238"/>
            <a:ext cx="2815836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ridership on MSRTC services through improved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and transparency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6096409" y="2750604"/>
            <a:ext cx="2681288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64436" y="2857760"/>
            <a:ext cx="38100" cy="395287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31" name="Text 28"/>
          <p:cNvSpPr/>
          <p:nvPr/>
        </p:nvSpPr>
        <p:spPr>
          <a:xfrm>
            <a:off x="6411441" y="2867471"/>
            <a:ext cx="17985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Smart Transit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6411441" y="3027238"/>
            <a:ext cx="2499018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future features: crowd monitoring, route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optimization, demand forecasting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4" name="Text 31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7176641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375600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8510885" y="4823892"/>
            <a:ext cx="40473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65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5729" y="288057"/>
            <a:ext cx="11887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TIMELINE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752310" y="764679"/>
            <a:ext cx="163930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ROADMAP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076497" y="923330"/>
            <a:ext cx="299093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spc="-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Timeline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66713" y="1392064"/>
            <a:ext cx="8410575" cy="2652713"/>
          </a:xfrm>
          <a:prstGeom prst="roundRect">
            <a:avLst>
              <a:gd name="adj" fmla="val 344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138459" y="1561356"/>
            <a:ext cx="9565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40" dirty="0"/>
          </a:p>
        </p:txBody>
      </p:sp>
      <p:sp>
        <p:nvSpPr>
          <p:cNvPr id="11" name="Text 8"/>
          <p:cNvSpPr/>
          <p:nvPr/>
        </p:nvSpPr>
        <p:spPr>
          <a:xfrm>
            <a:off x="2679714" y="1561356"/>
            <a:ext cx="11335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" dirty="0"/>
          </a:p>
        </p:txBody>
      </p:sp>
      <p:sp>
        <p:nvSpPr>
          <p:cNvPr id="12" name="Text 9"/>
          <p:cNvSpPr/>
          <p:nvPr/>
        </p:nvSpPr>
        <p:spPr>
          <a:xfrm>
            <a:off x="3229180" y="1561356"/>
            <a:ext cx="11470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40" dirty="0"/>
          </a:p>
        </p:txBody>
      </p:sp>
      <p:sp>
        <p:nvSpPr>
          <p:cNvPr id="13" name="Text 10"/>
          <p:cNvSpPr/>
          <p:nvPr/>
        </p:nvSpPr>
        <p:spPr>
          <a:xfrm>
            <a:off x="3777968" y="1561356"/>
            <a:ext cx="11741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40" dirty="0"/>
          </a:p>
        </p:txBody>
      </p:sp>
      <p:sp>
        <p:nvSpPr>
          <p:cNvPr id="14" name="Text 11"/>
          <p:cNvSpPr/>
          <p:nvPr/>
        </p:nvSpPr>
        <p:spPr>
          <a:xfrm>
            <a:off x="4330530" y="1561356"/>
            <a:ext cx="11258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4879416" y="1561356"/>
            <a:ext cx="11509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540" dirty="0"/>
          </a:p>
        </p:txBody>
      </p:sp>
      <p:sp>
        <p:nvSpPr>
          <p:cNvPr id="16" name="Text 13"/>
          <p:cNvSpPr/>
          <p:nvPr/>
        </p:nvSpPr>
        <p:spPr>
          <a:xfrm>
            <a:off x="5432569" y="1561356"/>
            <a:ext cx="10900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540" dirty="0"/>
          </a:p>
        </p:txBody>
      </p:sp>
      <p:sp>
        <p:nvSpPr>
          <p:cNvPr id="17" name="Text 14"/>
          <p:cNvSpPr/>
          <p:nvPr/>
        </p:nvSpPr>
        <p:spPr>
          <a:xfrm>
            <a:off x="5979616" y="1561356"/>
            <a:ext cx="11519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6529845" y="1561356"/>
            <a:ext cx="11509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540" dirty="0"/>
          </a:p>
        </p:txBody>
      </p:sp>
      <p:sp>
        <p:nvSpPr>
          <p:cNvPr id="19" name="Text 16"/>
          <p:cNvSpPr/>
          <p:nvPr/>
        </p:nvSpPr>
        <p:spPr>
          <a:xfrm>
            <a:off x="7059673" y="1561356"/>
            <a:ext cx="15572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40" dirty="0"/>
          </a:p>
        </p:txBody>
      </p:sp>
      <p:sp>
        <p:nvSpPr>
          <p:cNvPr id="20" name="Text 17"/>
          <p:cNvSpPr/>
          <p:nvPr/>
        </p:nvSpPr>
        <p:spPr>
          <a:xfrm>
            <a:off x="7620651" y="1561356"/>
            <a:ext cx="13405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540" dirty="0"/>
          </a:p>
        </p:txBody>
      </p:sp>
      <p:sp>
        <p:nvSpPr>
          <p:cNvPr id="21" name="Text 18"/>
          <p:cNvSpPr/>
          <p:nvPr/>
        </p:nvSpPr>
        <p:spPr>
          <a:xfrm>
            <a:off x="8161906" y="1561356"/>
            <a:ext cx="15176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540" dirty="0"/>
          </a:p>
        </p:txBody>
      </p:sp>
      <p:sp>
        <p:nvSpPr>
          <p:cNvPr id="22" name="Text 19"/>
          <p:cNvSpPr/>
          <p:nvPr/>
        </p:nvSpPr>
        <p:spPr>
          <a:xfrm>
            <a:off x="644798" y="1782514"/>
            <a:ext cx="11257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Planning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44798" y="1905967"/>
            <a:ext cx="48579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1–2</a:t>
            </a:r>
            <a:endParaRPr lang="en-US" sz="540" dirty="0"/>
          </a:p>
        </p:txBody>
      </p:sp>
      <p:sp>
        <p:nvSpPr>
          <p:cNvPr id="24" name="Shape 21"/>
          <p:cNvSpPr/>
          <p:nvPr/>
        </p:nvSpPr>
        <p:spPr>
          <a:xfrm>
            <a:off x="2016509" y="1821879"/>
            <a:ext cx="1057275" cy="128588"/>
          </a:xfrm>
          <a:prstGeom prst="roundRect">
            <a:avLst>
              <a:gd name="adj" fmla="val 21333"/>
            </a:avLst>
          </a:prstGeom>
          <a:solidFill>
            <a:srgbClr val="C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644798" y="2101453"/>
            <a:ext cx="8398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644798" y="2224906"/>
            <a:ext cx="50775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3–4</a:t>
            </a:r>
            <a:endParaRPr lang="en-US" sz="540" dirty="0"/>
          </a:p>
        </p:txBody>
      </p:sp>
      <p:sp>
        <p:nvSpPr>
          <p:cNvPr id="27" name="Shape 24"/>
          <p:cNvSpPr/>
          <p:nvPr/>
        </p:nvSpPr>
        <p:spPr>
          <a:xfrm>
            <a:off x="3101541" y="2140818"/>
            <a:ext cx="1057275" cy="128588"/>
          </a:xfrm>
          <a:prstGeom prst="roundRect">
            <a:avLst>
              <a:gd name="adj" fmla="val 21333"/>
            </a:avLst>
          </a:prstGeom>
          <a:solidFill>
            <a:srgbClr val="1E3A5F"/>
          </a:solidFill>
          <a:ln/>
        </p:spPr>
      </p:sp>
      <p:sp>
        <p:nvSpPr>
          <p:cNvPr id="28" name="Text 25"/>
          <p:cNvSpPr/>
          <p:nvPr/>
        </p:nvSpPr>
        <p:spPr>
          <a:xfrm>
            <a:off x="644798" y="2420392"/>
            <a:ext cx="10254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Development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644798" y="2543845"/>
            <a:ext cx="49847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5–7</a:t>
            </a:r>
            <a:endParaRPr lang="en-US" sz="540" dirty="0"/>
          </a:p>
        </p:txBody>
      </p:sp>
      <p:sp>
        <p:nvSpPr>
          <p:cNvPr id="30" name="Shape 27"/>
          <p:cNvSpPr/>
          <p:nvPr/>
        </p:nvSpPr>
        <p:spPr>
          <a:xfrm>
            <a:off x="4186386" y="2459757"/>
            <a:ext cx="1600200" cy="128588"/>
          </a:xfrm>
          <a:prstGeom prst="roundRect">
            <a:avLst>
              <a:gd name="adj" fmla="val 21333"/>
            </a:avLst>
          </a:prstGeom>
          <a:solidFill>
            <a:srgbClr val="C62828"/>
          </a:solidFill>
          <a:ln/>
        </p:spPr>
      </p:sp>
      <p:sp>
        <p:nvSpPr>
          <p:cNvPr id="31" name="Text 28"/>
          <p:cNvSpPr/>
          <p:nvPr/>
        </p:nvSpPr>
        <p:spPr>
          <a:xfrm>
            <a:off x="644798" y="2739330"/>
            <a:ext cx="107967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Integration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44798" y="2862783"/>
            <a:ext cx="50553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8–9</a:t>
            </a:r>
            <a:endParaRPr lang="en-US" sz="540" dirty="0"/>
          </a:p>
        </p:txBody>
      </p:sp>
      <p:sp>
        <p:nvSpPr>
          <p:cNvPr id="33" name="Shape 30"/>
          <p:cNvSpPr/>
          <p:nvPr/>
        </p:nvSpPr>
        <p:spPr>
          <a:xfrm>
            <a:off x="5814157" y="2778696"/>
            <a:ext cx="1057275" cy="128588"/>
          </a:xfrm>
          <a:prstGeom prst="roundRect">
            <a:avLst>
              <a:gd name="adj" fmla="val 21333"/>
            </a:avLst>
          </a:prstGeom>
          <a:solidFill>
            <a:srgbClr val="E65100"/>
          </a:solidFill>
          <a:ln/>
        </p:spPr>
      </p:sp>
      <p:sp>
        <p:nvSpPr>
          <p:cNvPr id="34" name="Text 31"/>
          <p:cNvSpPr/>
          <p:nvPr/>
        </p:nvSpPr>
        <p:spPr>
          <a:xfrm>
            <a:off x="644798" y="3058269"/>
            <a:ext cx="7267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QA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44798" y="3181722"/>
            <a:ext cx="44303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10</a:t>
            </a:r>
            <a:endParaRPr lang="en-US" sz="540" dirty="0"/>
          </a:p>
        </p:txBody>
      </p:sp>
      <p:sp>
        <p:nvSpPr>
          <p:cNvPr id="36" name="Shape 33"/>
          <p:cNvSpPr/>
          <p:nvPr/>
        </p:nvSpPr>
        <p:spPr>
          <a:xfrm>
            <a:off x="6899374" y="3097634"/>
            <a:ext cx="514350" cy="128588"/>
          </a:xfrm>
          <a:prstGeom prst="roundRect">
            <a:avLst>
              <a:gd name="adj" fmla="val 21333"/>
            </a:avLst>
          </a:prstGeom>
          <a:solidFill>
            <a:srgbClr val="1E3A5F"/>
          </a:solidFill>
          <a:ln/>
        </p:spPr>
      </p:sp>
      <p:sp>
        <p:nvSpPr>
          <p:cNvPr id="37" name="Text 34"/>
          <p:cNvSpPr/>
          <p:nvPr/>
        </p:nvSpPr>
        <p:spPr>
          <a:xfrm>
            <a:off x="644798" y="3377208"/>
            <a:ext cx="7752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&amp; Rollout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644798" y="3500661"/>
            <a:ext cx="55825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11–12</a:t>
            </a:r>
            <a:endParaRPr lang="en-US" sz="540" dirty="0"/>
          </a:p>
        </p:txBody>
      </p:sp>
      <p:sp>
        <p:nvSpPr>
          <p:cNvPr id="39" name="Shape 36"/>
          <p:cNvSpPr/>
          <p:nvPr/>
        </p:nvSpPr>
        <p:spPr>
          <a:xfrm>
            <a:off x="7441704" y="3416573"/>
            <a:ext cx="1057275" cy="128588"/>
          </a:xfrm>
          <a:prstGeom prst="roundRect">
            <a:avLst>
              <a:gd name="adj" fmla="val 21333"/>
            </a:avLst>
          </a:prstGeom>
          <a:solidFill>
            <a:srgbClr val="C62828"/>
          </a:solidFill>
          <a:ln/>
        </p:spPr>
      </p:sp>
      <p:sp>
        <p:nvSpPr>
          <p:cNvPr id="40" name="Shape 37"/>
          <p:cNvSpPr/>
          <p:nvPr/>
        </p:nvSpPr>
        <p:spPr>
          <a:xfrm>
            <a:off x="645319" y="3712927"/>
            <a:ext cx="7853362" cy="171450"/>
          </a:xfrm>
          <a:prstGeom prst="rect">
            <a:avLst/>
          </a:prstGeom>
          <a:ln/>
        </p:spPr>
      </p:sp>
      <p:sp>
        <p:nvSpPr>
          <p:cNvPr id="41" name="Shape 38"/>
          <p:cNvSpPr/>
          <p:nvPr/>
        </p:nvSpPr>
        <p:spPr>
          <a:xfrm>
            <a:off x="644314" y="3800512"/>
            <a:ext cx="138113" cy="52388"/>
          </a:xfrm>
          <a:prstGeom prst="roundRect">
            <a:avLst>
              <a:gd name="adj" fmla="val 34909"/>
            </a:avLst>
          </a:prstGeom>
          <a:solidFill>
            <a:srgbClr val="C62828"/>
          </a:solidFill>
          <a:ln/>
        </p:spPr>
      </p:sp>
      <p:sp>
        <p:nvSpPr>
          <p:cNvPr id="42" name="Text 39"/>
          <p:cNvSpPr/>
          <p:nvPr/>
        </p:nvSpPr>
        <p:spPr>
          <a:xfrm>
            <a:off x="827633" y="3778002"/>
            <a:ext cx="86878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Track (Red)</a:t>
            </a:r>
            <a:endParaRPr lang="en-US" sz="610" dirty="0"/>
          </a:p>
        </p:txBody>
      </p:sp>
      <p:sp>
        <p:nvSpPr>
          <p:cNvPr id="43" name="Shape 40"/>
          <p:cNvSpPr/>
          <p:nvPr/>
        </p:nvSpPr>
        <p:spPr>
          <a:xfrm>
            <a:off x="1634319" y="3800512"/>
            <a:ext cx="138113" cy="52388"/>
          </a:xfrm>
          <a:prstGeom prst="roundRect">
            <a:avLst>
              <a:gd name="adj" fmla="val 34909"/>
            </a:avLst>
          </a:prstGeom>
          <a:solidFill>
            <a:srgbClr val="1E3A5F"/>
          </a:solidFill>
          <a:ln/>
        </p:spPr>
      </p:sp>
      <p:sp>
        <p:nvSpPr>
          <p:cNvPr id="44" name="Text 41"/>
          <p:cNvSpPr/>
          <p:nvPr/>
        </p:nvSpPr>
        <p:spPr>
          <a:xfrm>
            <a:off x="1817638" y="3778002"/>
            <a:ext cx="129627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QA Track (Navy)</a:t>
            </a:r>
            <a:endParaRPr lang="en-US" sz="610" dirty="0"/>
          </a:p>
        </p:txBody>
      </p:sp>
      <p:sp>
        <p:nvSpPr>
          <p:cNvPr id="45" name="Shape 42"/>
          <p:cNvSpPr/>
          <p:nvPr/>
        </p:nvSpPr>
        <p:spPr>
          <a:xfrm>
            <a:off x="2953159" y="3800512"/>
            <a:ext cx="138113" cy="52388"/>
          </a:xfrm>
          <a:prstGeom prst="roundRect">
            <a:avLst>
              <a:gd name="adj" fmla="val 34909"/>
            </a:avLst>
          </a:prstGeom>
          <a:solidFill>
            <a:srgbClr val="E65100"/>
          </a:solidFill>
          <a:ln/>
        </p:spPr>
      </p:sp>
      <p:sp>
        <p:nvSpPr>
          <p:cNvPr id="46" name="Text 43"/>
          <p:cNvSpPr/>
          <p:nvPr/>
        </p:nvSpPr>
        <p:spPr>
          <a:xfrm>
            <a:off x="3136478" y="3778002"/>
            <a:ext cx="13195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Track (Orange)</a:t>
            </a:r>
            <a:endParaRPr lang="en-US" sz="610" dirty="0"/>
          </a:p>
        </p:txBody>
      </p:sp>
      <p:sp>
        <p:nvSpPr>
          <p:cNvPr id="47" name="Shape 44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48" name="Text 45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7176567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8375526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8510811" y="4823892"/>
            <a:ext cx="40482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</a:t>
            </a:r>
            <a:endParaRPr lang="en-US" sz="650" dirty="0"/>
          </a:p>
        </p:txBody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319" y="3712927"/>
            <a:ext cx="7853362" cy="171450"/>
          </a:xfrm>
          <a:prstGeom prst="rect">
            <a:avLst/>
          </a:prstGeom>
        </p:spPr>
      </p:pic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8353" y="288057"/>
            <a:ext cx="8213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3705768" y="1476896"/>
            <a:ext cx="173246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&amp; RESEARCH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3411781" y="1635547"/>
            <a:ext cx="232043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b="1" spc="-5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520" dirty="0"/>
          </a:p>
        </p:txBody>
      </p:sp>
      <p:sp>
        <p:nvSpPr>
          <p:cNvPr id="9" name="Shape 6"/>
          <p:cNvSpPr/>
          <p:nvPr/>
        </p:nvSpPr>
        <p:spPr>
          <a:xfrm>
            <a:off x="914884" y="2161245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01998" y="2268513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1165771" y="2323728"/>
            <a:ext cx="18852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440284" y="2278038"/>
            <a:ext cx="15826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MSRTC — Official Website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440284" y="2430587"/>
            <a:ext cx="134057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msrtc.maharashtra.gov.in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709629" y="2161245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6743" y="2268513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951437" y="2323728"/>
            <a:ext cx="2121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5235029" y="2278038"/>
            <a:ext cx="17338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 Mission Reports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5235029" y="2430587"/>
            <a:ext cx="9432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smartcities.gov.in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914884" y="2755292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01998" y="286256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21" name="Text 18"/>
          <p:cNvSpPr/>
          <p:nvPr/>
        </p:nvSpPr>
        <p:spPr>
          <a:xfrm>
            <a:off x="1155948" y="2917775"/>
            <a:ext cx="213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1440284" y="2872085"/>
            <a:ext cx="19820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Informatics Centre (NIC)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440284" y="3024634"/>
            <a:ext cx="3271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nic.in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709629" y="2755292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96743" y="286256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26" name="Text 23"/>
          <p:cNvSpPr/>
          <p:nvPr/>
        </p:nvSpPr>
        <p:spPr>
          <a:xfrm>
            <a:off x="4949279" y="2917775"/>
            <a:ext cx="2176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5235029" y="2872085"/>
            <a:ext cx="18342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Fleet Management — IEEE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5235029" y="3024634"/>
            <a:ext cx="219419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Transportation Research Publications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914884" y="3349340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101998" y="345660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31" name="Text 28"/>
          <p:cNvSpPr/>
          <p:nvPr/>
        </p:nvSpPr>
        <p:spPr>
          <a:xfrm>
            <a:off x="1157064" y="3511823"/>
            <a:ext cx="2111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440284" y="3466133"/>
            <a:ext cx="19323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India Transport Initiatives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1440284" y="3618681"/>
            <a:ext cx="9353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digitalindia.gov.in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709629" y="3349340"/>
            <a:ext cx="3519487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96743" y="345660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36" name="Text 33"/>
          <p:cNvSpPr/>
          <p:nvPr/>
        </p:nvSpPr>
        <p:spPr>
          <a:xfrm>
            <a:off x="4950544" y="3511823"/>
            <a:ext cx="21444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5235029" y="3466133"/>
            <a:ext cx="20369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OpenStreetMap Maharashtra Data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5235029" y="3618681"/>
            <a:ext cx="10196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openstreetmap.org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40" name="Text 37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7141146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8340105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8475390" y="4823892"/>
            <a:ext cx="4508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</a:t>
            </a:r>
            <a:endParaRPr lang="en-US" sz="65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3905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03" y="206611"/>
            <a:ext cx="1133475" cy="28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50597" y="288057"/>
            <a:ext cx="8574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49060" y="288057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951" y="990712"/>
            <a:ext cx="1647825" cy="4095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56859" y="1518345"/>
            <a:ext cx="83028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790" b="1" spc="63" kern="0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3318815" y="1672233"/>
            <a:ext cx="2506370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40" b="1" spc="-5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2740" dirty="0"/>
          </a:p>
        </p:txBody>
      </p:sp>
      <p:sp>
        <p:nvSpPr>
          <p:cNvPr id="10" name="Shape 6"/>
          <p:cNvSpPr/>
          <p:nvPr/>
        </p:nvSpPr>
        <p:spPr>
          <a:xfrm>
            <a:off x="914400" y="2232682"/>
            <a:ext cx="354330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116285" y="2349550"/>
            <a:ext cx="22492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Citizens &amp; Public Transport</a:t>
            </a:r>
            <a:endParaRPr lang="en-US" sz="760" dirty="0"/>
          </a:p>
        </p:txBody>
      </p:sp>
      <p:sp>
        <p:nvSpPr>
          <p:cNvPr id="12" name="Text 8"/>
          <p:cNvSpPr/>
          <p:nvPr/>
        </p:nvSpPr>
        <p:spPr>
          <a:xfrm>
            <a:off x="1116285" y="2509317"/>
            <a:ext cx="415527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 closes the information gap between passengers and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 network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4686300" y="2232682"/>
            <a:ext cx="354330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88185" y="2349550"/>
            <a:ext cx="197401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Smart, Connected Bus Network</a:t>
            </a:r>
            <a:endParaRPr lang="en-US" sz="760" dirty="0"/>
          </a:p>
        </p:txBody>
      </p:sp>
      <p:sp>
        <p:nvSpPr>
          <p:cNvPr id="15" name="Text 11"/>
          <p:cNvSpPr/>
          <p:nvPr/>
        </p:nvSpPr>
        <p:spPr>
          <a:xfrm>
            <a:off x="4888185" y="2509317"/>
            <a:ext cx="406443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connected bus network improves safety, reliability, and operational efficiency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Maharashtra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914400" y="2935374"/>
            <a:ext cx="354330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116285" y="3052242"/>
            <a:ext cx="207172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Ticketing &amp; Crew Tracking</a:t>
            </a:r>
            <a:endParaRPr lang="en-US" sz="760" dirty="0"/>
          </a:p>
        </p:txBody>
      </p:sp>
      <p:sp>
        <p:nvSpPr>
          <p:cNvPr id="18" name="Text 14"/>
          <p:cNvSpPr/>
          <p:nvPr/>
        </p:nvSpPr>
        <p:spPr>
          <a:xfrm>
            <a:off x="1116285" y="3212009"/>
            <a:ext cx="377044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ticketing and crew tracking bring accountability, transparency, and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convenience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4686300" y="2935374"/>
            <a:ext cx="3543300" cy="60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1440" dist="27432" dir="5400000">
              <a:srgbClr val="1E3A5F">
                <a:alpha val="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88185" y="3052242"/>
            <a:ext cx="20943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Infrastructure Vision 2030</a:t>
            </a:r>
            <a:endParaRPr lang="en-US" sz="760" dirty="0"/>
          </a:p>
        </p:txBody>
      </p:sp>
      <p:sp>
        <p:nvSpPr>
          <p:cNvPr id="21" name="Text 17"/>
          <p:cNvSpPr/>
          <p:nvPr/>
        </p:nvSpPr>
        <p:spPr>
          <a:xfrm>
            <a:off x="4888185" y="3212009"/>
            <a:ext cx="389282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aligns with Maharashtra's Digital Infrastructure Vision 2030 and</a:t>
            </a:r>
            <a:endParaRPr lang="en-US" sz="650" dirty="0"/>
          </a:p>
          <a:p>
            <a:pPr algn="l" indent="0" marL="0">
              <a:lnSpc>
                <a:spcPts val="907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 roadmap</a:t>
            </a:r>
            <a:endParaRPr lang="en-US" sz="6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99123"/>
            <a:ext cx="6400800" cy="61436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41330" y="3842370"/>
            <a:ext cx="6261266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we can make public transit smarter, safer, and more accessible for every</a:t>
            </a:r>
            <a:endParaRPr lang="en-US" sz="940" dirty="0"/>
          </a:p>
          <a:p>
            <a:pPr algn="ctr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Maharashtrian.</a:t>
            </a:r>
            <a:endParaRPr lang="en-US" sz="940" dirty="0"/>
          </a:p>
        </p:txBody>
      </p:sp>
      <p:sp>
        <p:nvSpPr>
          <p:cNvPr id="24" name="Shape 19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25" name="Text 20"/>
          <p:cNvSpPr/>
          <p:nvPr/>
        </p:nvSpPr>
        <p:spPr>
          <a:xfrm>
            <a:off x="365745" y="4823892"/>
            <a:ext cx="24481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State Road Transport Corporation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7160121" y="4823892"/>
            <a:ext cx="14970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 Transit Service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359080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8494365" y="4823892"/>
            <a:ext cx="42620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6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205643"/>
            <a:ext cx="8410575" cy="390525"/>
          </a:xfrm>
          <a:prstGeom prst="rect">
            <a:avLst/>
          </a:prstGeom>
        </p:spPr>
      </p:pic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2232682"/>
            <a:ext cx="3543300" cy="60960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6300" y="2232682"/>
            <a:ext cx="3543300" cy="60960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2935374"/>
            <a:ext cx="3543300" cy="60960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6300" y="2935374"/>
            <a:ext cx="3543300" cy="609600"/>
          </a:xfrm>
          <a:prstGeom prst="rect">
            <a:avLst/>
          </a:prstGeom>
        </p:spPr>
      </p:pic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2026-07-27T05:45:31Z</dcterms:created>
  <dcterms:modified xsi:type="dcterms:W3CDTF">2026-07-27T05:45:31Z</dcterms:modified>
</cp:coreProperties>
</file>